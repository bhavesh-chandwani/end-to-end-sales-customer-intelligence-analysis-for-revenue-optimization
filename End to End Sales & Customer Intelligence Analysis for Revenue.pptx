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F28F5-D6F4-4757-A04A-F0C6BF8042A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E776B-7241-4E1E-8CAE-23181AC11A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03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66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36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4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85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45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2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91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1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5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9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572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634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850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583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196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338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18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6817-606F-4BA3-B963-1DBA4A4A5113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6784A-10EC-46A3-8E69-84970B131F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998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6B21-E9B9-B0E4-01E8-F37207D54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3935"/>
            <a:ext cx="9144000" cy="2841522"/>
          </a:xfrm>
        </p:spPr>
        <p:txBody>
          <a:bodyPr numCol="1">
            <a:normAutofit/>
          </a:bodyPr>
          <a:lstStyle/>
          <a:p>
            <a:r>
              <a:rPr lang="en-US" dirty="0"/>
              <a:t>End-to-End Sales &amp; Customer Intelligence Analysis for Revenue Optimization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00599-1509-6568-A135-FD644D2254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89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D634-276A-D604-4BF9-18F4D8AEC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19953-ADBC-8CCB-0E81-6BB5C3ADA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65" y="2253380"/>
            <a:ext cx="10353762" cy="2826016"/>
          </a:xfrm>
        </p:spPr>
        <p:txBody>
          <a:bodyPr/>
          <a:lstStyle/>
          <a:p>
            <a:r>
              <a:rPr lang="en-US" dirty="0"/>
              <a:t>In this project, I performed end-to-end sales and customer analysis using SQL.</a:t>
            </a:r>
            <a:br>
              <a:rPr lang="en-US" dirty="0"/>
            </a:br>
            <a:r>
              <a:rPr lang="en-US" dirty="0"/>
              <a:t>I worked with 18K+ customers, 295 products, and transactional data to extract business insights and support decision-making.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33A31-9243-C290-27E8-9AD906520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1" y="3570144"/>
            <a:ext cx="9173497" cy="30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8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7D68-C22B-1AE5-FA44-94BA671F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Business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2FE5B-C466-345E-8C81-E411D3F6E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business generated </a:t>
            </a:r>
            <a:r>
              <a:rPr lang="en-US" b="1" dirty="0"/>
              <a:t>29.35M in revenue</a:t>
            </a:r>
            <a:r>
              <a:rPr lang="en-US" dirty="0"/>
              <a:t> from </a:t>
            </a:r>
            <a:r>
              <a:rPr lang="en-US" b="1" dirty="0"/>
              <a:t>27K+ orders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However, when we divide revenue by customers, we see </a:t>
            </a:r>
            <a:r>
              <a:rPr lang="en-US" b="1" dirty="0"/>
              <a:t>low revenue per customer</a:t>
            </a:r>
            <a:r>
              <a:rPr lang="en-US" dirty="0"/>
              <a:t>, which indicates a volume-based business rather than a high-value one.</a:t>
            </a:r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Growth is present 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customer value is low</a:t>
            </a:r>
            <a:r>
              <a:rPr lang="en-US" dirty="0"/>
              <a:t> </a:t>
            </a:r>
          </a:p>
          <a:p>
            <a:r>
              <a:rPr lang="en-US" dirty="0"/>
              <a:t>Conclusion:</a:t>
            </a:r>
            <a:br>
              <a:rPr lang="en-US" dirty="0"/>
            </a:br>
            <a:r>
              <a:rPr lang="en-US" dirty="0"/>
              <a:t>	 We should focus on increasing revenue per customer.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91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FFB2-EDE4-415A-65C2-2E7D8D91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Customer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D1F44-079D-1B59-A945-ECFF55ACC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678193"/>
            <a:ext cx="10353762" cy="5106065"/>
          </a:xfrm>
        </p:spPr>
        <p:txBody>
          <a:bodyPr/>
          <a:lstStyle/>
          <a:p>
            <a:r>
              <a:rPr lang="en-US" dirty="0"/>
              <a:t>The majority of customers (~40%) come from the United States, while other countries like Canada and Germany contribute significantly less.</a:t>
            </a:r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Business is </a:t>
            </a:r>
            <a:r>
              <a:rPr lang="en-US" b="1" dirty="0"/>
              <a:t>heavily dependent on one market</a:t>
            </a:r>
            <a:r>
              <a:rPr lang="en-US" dirty="0"/>
              <a:t> </a:t>
            </a:r>
          </a:p>
          <a:p>
            <a:r>
              <a:rPr lang="en-US" dirty="0"/>
              <a:t>Decision:</a:t>
            </a:r>
            <a:br>
              <a:rPr lang="en-US" dirty="0"/>
            </a:br>
            <a:r>
              <a:rPr lang="en-US" dirty="0"/>
              <a:t>	We should expand globally to reduce risk and increase revenue opportunities.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43F5B-991E-6344-4C6D-D5BD4FF05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640" y="4300313"/>
            <a:ext cx="8357418" cy="234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7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2BBF-32D3-FDF2-5ED4-CF7CCC58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65471"/>
            <a:ext cx="10353761" cy="1326321"/>
          </a:xfrm>
        </p:spPr>
        <p:txBody>
          <a:bodyPr/>
          <a:lstStyle/>
          <a:p>
            <a:r>
              <a:rPr lang="en-IN" dirty="0"/>
              <a:t>4. Customer </a:t>
            </a:r>
            <a:r>
              <a:rPr lang="en-IN" dirty="0" err="1"/>
              <a:t>Behavior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C22A4-FD7E-92FC-623C-5CA083FD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5" y="1496296"/>
            <a:ext cx="10521121" cy="5361703"/>
          </a:xfrm>
        </p:spPr>
        <p:txBody>
          <a:bodyPr/>
          <a:lstStyle/>
          <a:p>
            <a:r>
              <a:rPr lang="en-US" dirty="0"/>
              <a:t>Most customers are regular users, but only a small percentage are VIP customers. Also, many customers made only one purchase.</a:t>
            </a:r>
          </a:p>
          <a:p>
            <a:r>
              <a:rPr lang="en-US" dirty="0"/>
              <a:t> Insight:</a:t>
            </a:r>
          </a:p>
          <a:p>
            <a:pPr lvl="1"/>
            <a:r>
              <a:rPr lang="en-US" b="1" dirty="0"/>
              <a:t>Low retention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Weak customer loyalty </a:t>
            </a:r>
          </a:p>
          <a:p>
            <a:r>
              <a:rPr lang="en-US" dirty="0"/>
              <a:t>Decision:</a:t>
            </a:r>
            <a:br>
              <a:rPr lang="en-US" dirty="0"/>
            </a:br>
            <a:r>
              <a:rPr lang="en-US" dirty="0"/>
              <a:t>	We need loyalty programs and retention strategies to convert regular users into 	repeat and VIP customers.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9AE53-20F4-8BCF-CA29-469402ED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8" y="4857136"/>
            <a:ext cx="9969697" cy="190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6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BF40-D542-2163-E96D-050FF17C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55638"/>
            <a:ext cx="10353761" cy="1326321"/>
          </a:xfrm>
        </p:spPr>
        <p:txBody>
          <a:bodyPr/>
          <a:lstStyle/>
          <a:p>
            <a:r>
              <a:rPr lang="en-IN" dirty="0"/>
              <a:t>5. Product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9C41-F496-9838-C037-1790AABF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663444"/>
            <a:ext cx="10353762" cy="5194555"/>
          </a:xfrm>
        </p:spPr>
        <p:txBody>
          <a:bodyPr/>
          <a:lstStyle/>
          <a:p>
            <a:r>
              <a:rPr lang="en-US" dirty="0"/>
              <a:t>Even though we have multiple categories, </a:t>
            </a:r>
            <a:r>
              <a:rPr lang="en-US" b="1" dirty="0"/>
              <a:t>Bikes alone generate 96% of total revenue</a:t>
            </a:r>
            <a:r>
              <a:rPr lang="en-US" dirty="0"/>
              <a:t>, while accessories and clothing contribute very little.</a:t>
            </a:r>
          </a:p>
          <a:p>
            <a:r>
              <a:rPr lang="en-US" dirty="0"/>
              <a:t>Insight:</a:t>
            </a:r>
          </a:p>
          <a:p>
            <a:r>
              <a:rPr lang="en-US" dirty="0"/>
              <a:t>Extreme dependency on one category </a:t>
            </a:r>
          </a:p>
          <a:p>
            <a:r>
              <a:rPr lang="en-US" dirty="0"/>
              <a:t> Risk:</a:t>
            </a:r>
            <a:br>
              <a:rPr lang="en-US" dirty="0"/>
            </a:br>
            <a:r>
              <a:rPr lang="en-US" dirty="0"/>
              <a:t>	If bike sales drop, overall revenue will collapse.</a:t>
            </a:r>
          </a:p>
          <a:p>
            <a:r>
              <a:rPr lang="en-US" dirty="0"/>
              <a:t> Decision:</a:t>
            </a:r>
            <a:br>
              <a:rPr lang="en-US" dirty="0"/>
            </a:br>
            <a:r>
              <a:rPr lang="en-US" dirty="0"/>
              <a:t>	We must diversify product categories.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02B30-65BD-BF79-2973-8A8118E7E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4" y="5194556"/>
            <a:ext cx="8986683" cy="158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1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E385-803B-7896-0710-A8279532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37" y="340366"/>
            <a:ext cx="10353761" cy="1326321"/>
          </a:xfrm>
        </p:spPr>
        <p:txBody>
          <a:bodyPr/>
          <a:lstStyle/>
          <a:p>
            <a:r>
              <a:rPr lang="en-IN" dirty="0"/>
              <a:t>6. Pricing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ECFE7-F302-EB45-9C7A-D41F7627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712602"/>
            <a:ext cx="10353762" cy="5145398"/>
          </a:xfrm>
        </p:spPr>
        <p:txBody>
          <a:bodyPr/>
          <a:lstStyle/>
          <a:p>
            <a:r>
              <a:rPr lang="en-US" dirty="0"/>
              <a:t>Bikes are high-ticket items, while other products are low-cost add-ons.</a:t>
            </a:r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Bikes = revenue drivers </a:t>
            </a:r>
          </a:p>
          <a:p>
            <a:r>
              <a:rPr lang="en-US" dirty="0"/>
              <a:t>Accessories = support products </a:t>
            </a:r>
          </a:p>
          <a:p>
            <a:r>
              <a:rPr lang="en-US" dirty="0"/>
              <a:t> Decision:</a:t>
            </a:r>
            <a:br>
              <a:rPr lang="en-US" dirty="0"/>
            </a:br>
            <a:r>
              <a:rPr lang="en-US" dirty="0"/>
              <a:t>	Use accessories for </a:t>
            </a:r>
            <a:r>
              <a:rPr lang="en-US" b="1" dirty="0"/>
              <a:t>cross-selling and bundling strategies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B5C3C-3FB8-031A-361C-E9D8844F8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81" y="4444181"/>
            <a:ext cx="8072284" cy="224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0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D001-FF23-DCF5-B64C-D7435126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12452-97C1-698A-FBF7-E56674D3A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35392"/>
            <a:ext cx="10353762" cy="4629201"/>
          </a:xfrm>
        </p:spPr>
        <p:txBody>
          <a:bodyPr/>
          <a:lstStyle/>
          <a:p>
            <a:r>
              <a:rPr lang="en-US" dirty="0"/>
              <a:t>Top-performing products are all mountain bikes, while low-performing products include socks and small accessories.</a:t>
            </a:r>
          </a:p>
          <a:p>
            <a:r>
              <a:rPr lang="en-US" dirty="0"/>
              <a:t>Insight:</a:t>
            </a:r>
          </a:p>
          <a:p>
            <a:r>
              <a:rPr lang="en-US" dirty="0"/>
              <a:t>Few products generate most revenue.</a:t>
            </a:r>
          </a:p>
          <a:p>
            <a:r>
              <a:rPr lang="en-US" dirty="0"/>
              <a:t> Decision:</a:t>
            </a:r>
          </a:p>
          <a:p>
            <a:pPr lvl="1"/>
            <a:r>
              <a:rPr lang="en-US" dirty="0"/>
              <a:t>Focus on top products and bundle or remove weak products.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EE3875-0154-B25E-5109-165EF56FF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22" y="4922080"/>
            <a:ext cx="5412430" cy="17603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930676-AC4D-C4B9-BD80-B294526A0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10" y="4922080"/>
            <a:ext cx="4973988" cy="17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8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B327-C732-BCA0-BC48-F067EAE3E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Sales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717A-B48D-D4A9-FF08-397F89E1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629201"/>
          </a:xfrm>
        </p:spPr>
        <p:txBody>
          <a:bodyPr/>
          <a:lstStyle/>
          <a:p>
            <a:r>
              <a:rPr lang="en-US" dirty="0"/>
              <a:t>Sales saw a major spike in 2013, followed by fluctuations.</a:t>
            </a:r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Growth is </a:t>
            </a:r>
            <a:r>
              <a:rPr lang="en-US" b="1" dirty="0"/>
              <a:t>not consistent</a:t>
            </a:r>
            <a:r>
              <a:rPr lang="en-US" dirty="0"/>
              <a:t> </a:t>
            </a:r>
          </a:p>
          <a:p>
            <a:r>
              <a:rPr lang="en-US" dirty="0"/>
              <a:t>Decision:</a:t>
            </a:r>
          </a:p>
          <a:p>
            <a:pPr lvl="1"/>
            <a:r>
              <a:rPr lang="en-US" dirty="0"/>
              <a:t>We need stable revenue strategies like seasonal campaigns and retention.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BB536-66F9-D7C8-0A8B-57687545C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018" y="4410663"/>
            <a:ext cx="9163665" cy="231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2798-3B5F-9B6F-9D6C-90FEBA2E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9. Monthly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DA791-40BD-03C5-7EAB-32921E2AD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vary across months, indicating possible seasonality.</a:t>
            </a:r>
          </a:p>
          <a:p>
            <a:r>
              <a:rPr lang="en-US" dirty="0"/>
              <a:t> Decision:</a:t>
            </a:r>
            <a:br>
              <a:rPr lang="en-US" dirty="0"/>
            </a:br>
            <a:r>
              <a:rPr lang="en-US" dirty="0"/>
              <a:t>	Run targeted campaigns during peak seasons.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6C84C9-BAEB-FF6C-3EA5-10EC240D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02" y="3308360"/>
            <a:ext cx="10934076" cy="32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86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7EA3-30CB-866D-B0B5-74551C62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10. Customer Revenue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E6AF9-0F7D-7E26-99D9-06C4FD6A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570208"/>
          </a:xfrm>
        </p:spPr>
        <p:txBody>
          <a:bodyPr/>
          <a:lstStyle/>
          <a:p>
            <a:r>
              <a:rPr lang="en-US" dirty="0"/>
              <a:t>Top customers generate around 13K revenue, but there are no extremely high-value customers.</a:t>
            </a:r>
          </a:p>
          <a:p>
            <a:r>
              <a:rPr lang="en-US" dirty="0"/>
              <a:t>Insight:</a:t>
            </a:r>
          </a:p>
          <a:p>
            <a:pPr lvl="1"/>
            <a:r>
              <a:rPr lang="en-US" dirty="0"/>
              <a:t>No strong VIP base </a:t>
            </a:r>
          </a:p>
          <a:p>
            <a:r>
              <a:rPr lang="en-US" dirty="0"/>
              <a:t>Decision:</a:t>
            </a:r>
          </a:p>
          <a:p>
            <a:pPr lvl="1"/>
            <a:r>
              <a:rPr lang="en-US" dirty="0"/>
              <a:t>Create VIP tiers and reward high-value customers.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E2006-1937-0642-AB0D-CB446662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72" y="4777560"/>
            <a:ext cx="8917858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6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D3BD5-EA21-3119-515D-B77687AF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11. Product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AEA2-1C34-F147-190B-39743544D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344065"/>
          </a:xfrm>
        </p:spPr>
        <p:txBody>
          <a:bodyPr/>
          <a:lstStyle/>
          <a:p>
            <a:r>
              <a:rPr lang="en-US" dirty="0"/>
              <a:t>Most products fall under mid-range pricing.</a:t>
            </a:r>
          </a:p>
          <a:p>
            <a:r>
              <a:rPr lang="en-US" dirty="0"/>
              <a:t> Insight:</a:t>
            </a:r>
          </a:p>
          <a:p>
            <a:pPr lvl="1"/>
            <a:r>
              <a:rPr lang="en-US" dirty="0"/>
              <a:t>No strong premium or budget strategy.</a:t>
            </a:r>
          </a:p>
          <a:p>
            <a:r>
              <a:rPr lang="en-US" dirty="0"/>
              <a:t> Decision:</a:t>
            </a:r>
          </a:p>
          <a:p>
            <a:pPr lvl="1"/>
            <a:r>
              <a:rPr lang="en-US" dirty="0"/>
              <a:t>Introduce premium and low-cost product tiers.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74E9EE-CBE3-E4E3-B175-6C9BE20F4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10" y="4419481"/>
            <a:ext cx="9547121" cy="218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2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31B6-A32C-E509-75C3-FA4CF718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12. Key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4A381-5230-8CB7-0D87-7590525D4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business faces 4 major issues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Overdependence on bikes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Low customer retention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Weak product diversification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Heavy reliance on US market”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AA394-4292-C230-7EE5-3AF498806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675" y="1661652"/>
            <a:ext cx="4895693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7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2247-B86A-D33E-1C43-68EF8ABF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13.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13AC-DC1E-BD39-6B2D-E310C9487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58297"/>
            <a:ext cx="10353762" cy="469981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1. Increase Revenue per Customer</a:t>
            </a:r>
            <a:br>
              <a:rPr lang="en-IN" dirty="0"/>
            </a:br>
            <a:r>
              <a:rPr lang="en-IN" dirty="0"/>
              <a:t>→ Implement upselling &amp; product bundling</a:t>
            </a:r>
            <a:br>
              <a:rPr lang="en-IN" dirty="0"/>
            </a:br>
            <a:r>
              <a:rPr lang="en-IN" dirty="0"/>
              <a:t>→ Boost Average Order Value (AOV)</a:t>
            </a:r>
          </a:p>
          <a:p>
            <a:r>
              <a:rPr lang="en-IN" b="1" dirty="0"/>
              <a:t>2. Improve Customer Retention</a:t>
            </a:r>
            <a:br>
              <a:rPr lang="en-IN" dirty="0"/>
            </a:br>
            <a:r>
              <a:rPr lang="en-IN" dirty="0"/>
              <a:t>→ Introduce loyalty programs &amp; personalized offers</a:t>
            </a:r>
            <a:br>
              <a:rPr lang="en-IN" dirty="0"/>
            </a:br>
            <a:r>
              <a:rPr lang="en-IN" dirty="0"/>
              <a:t>→ Convert one-time buyers into repeat customers</a:t>
            </a:r>
          </a:p>
          <a:p>
            <a:r>
              <a:rPr lang="en-IN" b="1" dirty="0"/>
              <a:t>3. Diversify Revenue Streams</a:t>
            </a:r>
            <a:br>
              <a:rPr lang="en-IN" dirty="0"/>
            </a:br>
            <a:r>
              <a:rPr lang="en-IN" dirty="0"/>
              <a:t>→ Strengthen accessories &amp; clothing categories</a:t>
            </a:r>
            <a:br>
              <a:rPr lang="en-IN" dirty="0"/>
            </a:br>
            <a:r>
              <a:rPr lang="en-IN" dirty="0"/>
              <a:t>→ Reduce dependency on Bikes (currently ~96%)</a:t>
            </a:r>
          </a:p>
          <a:p>
            <a:r>
              <a:rPr lang="en-IN" b="1" dirty="0"/>
              <a:t>4. Expand Global Presence</a:t>
            </a:r>
            <a:br>
              <a:rPr lang="en-IN" dirty="0"/>
            </a:br>
            <a:r>
              <a:rPr lang="en-IN" dirty="0"/>
              <a:t>→ Target underperforming regions (Europe, others)</a:t>
            </a:r>
            <a:br>
              <a:rPr lang="en-IN" dirty="0"/>
            </a:br>
            <a:r>
              <a:rPr lang="en-IN" dirty="0"/>
              <a:t>→ Reduce over-reliance on US market</a:t>
            </a:r>
          </a:p>
          <a:p>
            <a:r>
              <a:rPr lang="en-IN" b="1" dirty="0"/>
              <a:t>5. Optimize Product Strategy (80/20 Rule)</a:t>
            </a:r>
            <a:br>
              <a:rPr lang="en-IN" dirty="0"/>
            </a:br>
            <a:r>
              <a:rPr lang="en-IN" dirty="0"/>
              <a:t>→ Focus on top-performing products</a:t>
            </a:r>
            <a:br>
              <a:rPr lang="en-IN" dirty="0"/>
            </a:br>
            <a:r>
              <a:rPr lang="en-IN" dirty="0"/>
              <a:t>→ Bundle or eliminate low-performing items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91796-4DD0-72FC-16BA-CA8E586BE2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451" y="1553497"/>
            <a:ext cx="5535561" cy="500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978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7B96-1D3C-ED30-1EA6-3245D90A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14.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C8FA-2735-944E-6D7E-A8A2BE14A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analysis shows how data can be used not just for reporting, but for </a:t>
            </a:r>
            <a:r>
              <a:rPr lang="en-US" b="1" dirty="0"/>
              <a:t>strategic decision-making</a:t>
            </a:r>
            <a:r>
              <a:rPr lang="en-US" dirty="0"/>
              <a:t>.</a:t>
            </a:r>
          </a:p>
          <a:p>
            <a:r>
              <a:rPr lang="en-US" dirty="0"/>
              <a:t>By focusing on customer value, diversification, and retention, the business can achieve sustainable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031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177</TotalTime>
  <Words>675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Bookman Old Style</vt:lpstr>
      <vt:lpstr>Rockwell</vt:lpstr>
      <vt:lpstr>Damask</vt:lpstr>
      <vt:lpstr>End-to-End Sales &amp; Customer Intelligence Analysis for Revenue Optimization</vt:lpstr>
      <vt:lpstr>1. Project Overview</vt:lpstr>
      <vt:lpstr>2. Business Performance</vt:lpstr>
      <vt:lpstr>3. Customer Insights</vt:lpstr>
      <vt:lpstr>4. Customer Behavior </vt:lpstr>
      <vt:lpstr>5. Product Analysis</vt:lpstr>
      <vt:lpstr>6. Pricing Strategy </vt:lpstr>
      <vt:lpstr>7. Product Performance</vt:lpstr>
      <vt:lpstr>8. Sales Trends</vt:lpstr>
      <vt:lpstr>9. Monthly Trends</vt:lpstr>
      <vt:lpstr>10. Customer Revenue Contribution</vt:lpstr>
      <vt:lpstr>11. Product Segmentation</vt:lpstr>
      <vt:lpstr>12. Key Problems</vt:lpstr>
      <vt:lpstr>13. strategic Recommendations</vt:lpstr>
      <vt:lpstr>14. 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Chandwani</dc:creator>
  <cp:lastModifiedBy>Bhavesh Chandwani</cp:lastModifiedBy>
  <cp:revision>1</cp:revision>
  <dcterms:created xsi:type="dcterms:W3CDTF">2026-04-09T04:59:56Z</dcterms:created>
  <dcterms:modified xsi:type="dcterms:W3CDTF">2026-04-09T07:57:06Z</dcterms:modified>
</cp:coreProperties>
</file>